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5"/>
  </p:handout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 用问题吸引听众：同样的课堂，为什么结果不同？引出“注意力”的关键作用。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524000" y="2900053"/>
            <a:ext cx="9144000" cy="979953"/>
          </a:xfrm>
        </p:spPr>
        <p:txBody>
          <a:bodyPr anchor="b">
            <a:noAutofit/>
          </a:bodyPr>
          <a:lstStyle>
            <a:lvl1pPr algn="ctr">
              <a:defRPr sz="64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524000" y="3982720"/>
            <a:ext cx="9144000" cy="41656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六边形 3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ED714-68C8-44B6-9732-DDF7DD97772E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7581E-C9C7-4035-8AC9-880348F0A73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4927" r="2299" b="5486"/>
          <a:stretch>
            <a:fillRect/>
          </a:stretch>
        </p:blipFill>
        <p:spPr bwMode="auto">
          <a:xfrm>
            <a:off x="1588" y="-6350"/>
            <a:ext cx="41846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六边形 7"/>
          <p:cNvSpPr/>
          <p:nvPr/>
        </p:nvSpPr>
        <p:spPr>
          <a:xfrm>
            <a:off x="3614738" y="2924175"/>
            <a:ext cx="1173162" cy="1009650"/>
          </a:xfrm>
          <a:prstGeom prst="hexagon">
            <a:avLst/>
          </a:prstGeom>
          <a:solidFill>
            <a:schemeClr val="accent2"/>
          </a:solidFill>
          <a:ln>
            <a:solidFill>
              <a:schemeClr val="accent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1904" y="2856792"/>
            <a:ext cx="4477001" cy="642117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1904" y="3571479"/>
            <a:ext cx="4477001" cy="43358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5618163" y="3517900"/>
            <a:ext cx="860425" cy="86042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r>
              <a:rPr lang="en-US" altLang="zh-CN" sz="2000" b="1" noProof="1">
                <a:solidFill>
                  <a:schemeClr val="bg1"/>
                </a:solidFill>
                <a:sym typeface="Arial" panose="02080604020202020204" pitchFamily="34" charset="0"/>
              </a:rPr>
              <a:t>VS</a:t>
            </a:r>
            <a:endParaRPr lang="zh-CN" altLang="en-US" sz="1600" b="1" noProof="1">
              <a:solidFill>
                <a:schemeClr val="bg1"/>
              </a:solidFill>
              <a:sym typeface="Arial" panose="0208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744961"/>
            <a:ext cx="4087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615610"/>
            <a:ext cx="4087811" cy="357405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168515" y="1744961"/>
            <a:ext cx="41868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168515" y="2615610"/>
            <a:ext cx="4186874" cy="357405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六边形 11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13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36688" y="2400300"/>
            <a:ext cx="2468562" cy="565150"/>
          </a:xfrm>
          <a:custGeom>
            <a:avLst/>
            <a:gdLst>
              <a:gd name="T0" fmla="*/ 674 w 758"/>
              <a:gd name="T1" fmla="*/ 173 h 173"/>
              <a:gd name="T2" fmla="*/ 8 w 758"/>
              <a:gd name="T3" fmla="*/ 173 h 173"/>
              <a:gd name="T4" fmla="*/ 0 w 758"/>
              <a:gd name="T5" fmla="*/ 167 h 173"/>
              <a:gd name="T6" fmla="*/ 0 w 758"/>
              <a:gd name="T7" fmla="*/ 5 h 173"/>
              <a:gd name="T8" fmla="*/ 8 w 758"/>
              <a:gd name="T9" fmla="*/ 0 h 173"/>
              <a:gd name="T10" fmla="*/ 674 w 758"/>
              <a:gd name="T11" fmla="*/ 0 h 173"/>
              <a:gd name="T12" fmla="*/ 680 w 758"/>
              <a:gd name="T13" fmla="*/ 2 h 173"/>
              <a:gd name="T14" fmla="*/ 756 w 758"/>
              <a:gd name="T15" fmla="*/ 83 h 173"/>
              <a:gd name="T16" fmla="*/ 756 w 758"/>
              <a:gd name="T17" fmla="*/ 89 h 173"/>
              <a:gd name="T18" fmla="*/ 680 w 758"/>
              <a:gd name="T19" fmla="*/ 170 h 173"/>
              <a:gd name="T20" fmla="*/ 674 w 758"/>
              <a:gd name="T21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58" h="173">
                <a:moveTo>
                  <a:pt x="674" y="173"/>
                </a:moveTo>
                <a:cubicBezTo>
                  <a:pt x="8" y="173"/>
                  <a:pt x="8" y="173"/>
                  <a:pt x="8" y="173"/>
                </a:cubicBezTo>
                <a:cubicBezTo>
                  <a:pt x="4" y="173"/>
                  <a:pt x="0" y="170"/>
                  <a:pt x="0" y="167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4" y="0"/>
                  <a:pt x="8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7" y="0"/>
                  <a:pt x="679" y="1"/>
                  <a:pt x="680" y="2"/>
                </a:cubicBezTo>
                <a:cubicBezTo>
                  <a:pt x="756" y="83"/>
                  <a:pt x="756" y="83"/>
                  <a:pt x="756" y="83"/>
                </a:cubicBezTo>
                <a:cubicBezTo>
                  <a:pt x="758" y="85"/>
                  <a:pt x="758" y="87"/>
                  <a:pt x="756" y="89"/>
                </a:cubicBezTo>
                <a:cubicBezTo>
                  <a:pt x="680" y="170"/>
                  <a:pt x="680" y="170"/>
                  <a:pt x="680" y="170"/>
                </a:cubicBezTo>
                <a:cubicBezTo>
                  <a:pt x="679" y="172"/>
                  <a:pt x="677" y="173"/>
                  <a:pt x="674" y="17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Freeform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78250" y="2400300"/>
            <a:ext cx="2451100" cy="565150"/>
          </a:xfrm>
          <a:custGeom>
            <a:avLst/>
            <a:gdLst>
              <a:gd name="T0" fmla="*/ 669 w 753"/>
              <a:gd name="T1" fmla="*/ 173 h 173"/>
              <a:gd name="T2" fmla="*/ 10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10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10" y="173"/>
                  <a:pt x="10" y="173"/>
                  <a:pt x="10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10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444A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6" name="Freeform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102350" y="2400300"/>
            <a:ext cx="2452688" cy="56515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5D6C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7" name="Freeform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428038" y="2400300"/>
            <a:ext cx="2451100" cy="565150"/>
          </a:xfrm>
          <a:custGeom>
            <a:avLst/>
            <a:gdLst>
              <a:gd name="T0" fmla="*/ 669 w 753"/>
              <a:gd name="T1" fmla="*/ 173 h 173"/>
              <a:gd name="T2" fmla="*/ 9 w 753"/>
              <a:gd name="T3" fmla="*/ 173 h 173"/>
              <a:gd name="T4" fmla="*/ 3 w 753"/>
              <a:gd name="T5" fmla="*/ 164 h 173"/>
              <a:gd name="T6" fmla="*/ 73 w 753"/>
              <a:gd name="T7" fmla="*/ 89 h 173"/>
              <a:gd name="T8" fmla="*/ 73 w 753"/>
              <a:gd name="T9" fmla="*/ 83 h 173"/>
              <a:gd name="T10" fmla="*/ 3 w 753"/>
              <a:gd name="T11" fmla="*/ 8 h 173"/>
              <a:gd name="T12" fmla="*/ 9 w 753"/>
              <a:gd name="T13" fmla="*/ 0 h 173"/>
              <a:gd name="T14" fmla="*/ 669 w 753"/>
              <a:gd name="T15" fmla="*/ 0 h 173"/>
              <a:gd name="T16" fmla="*/ 675 w 753"/>
              <a:gd name="T17" fmla="*/ 2 h 173"/>
              <a:gd name="T18" fmla="*/ 751 w 753"/>
              <a:gd name="T19" fmla="*/ 83 h 173"/>
              <a:gd name="T20" fmla="*/ 751 w 753"/>
              <a:gd name="T21" fmla="*/ 89 h 173"/>
              <a:gd name="T22" fmla="*/ 675 w 753"/>
              <a:gd name="T23" fmla="*/ 170 h 173"/>
              <a:gd name="T24" fmla="*/ 669 w 753"/>
              <a:gd name="T25" fmla="*/ 173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3" h="17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6B94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黑体" panose="02010609060101010101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060344" y="506729"/>
            <a:ext cx="10515600" cy="6013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3"/>
          </p:nvPr>
        </p:nvSpPr>
        <p:spPr>
          <a:xfrm>
            <a:off x="1371600" y="1354138"/>
            <a:ext cx="9507538" cy="5175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4"/>
          </p:nvPr>
        </p:nvSpPr>
        <p:spPr>
          <a:xfrm>
            <a:off x="1579245" y="2528888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1" name="文本占位符 39"/>
          <p:cNvSpPr>
            <a:spLocks noGrp="1"/>
          </p:cNvSpPr>
          <p:nvPr>
            <p:ph type="body" sz="quarter" idx="15"/>
          </p:nvPr>
        </p:nvSpPr>
        <p:spPr>
          <a:xfrm>
            <a:off x="4046855" y="2520315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2" name="文本占位符 39"/>
          <p:cNvSpPr>
            <a:spLocks noGrp="1"/>
          </p:cNvSpPr>
          <p:nvPr>
            <p:ph type="body" sz="quarter" idx="16"/>
          </p:nvPr>
        </p:nvSpPr>
        <p:spPr>
          <a:xfrm>
            <a:off x="6372225" y="2517459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3" name="文本占位符 39"/>
          <p:cNvSpPr>
            <a:spLocks noGrp="1"/>
          </p:cNvSpPr>
          <p:nvPr>
            <p:ph type="body" sz="quarter" idx="17"/>
          </p:nvPr>
        </p:nvSpPr>
        <p:spPr>
          <a:xfrm>
            <a:off x="8697595" y="2526242"/>
            <a:ext cx="2032635" cy="30797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5" name="内容占位符 44"/>
          <p:cNvSpPr>
            <a:spLocks noGrp="1"/>
          </p:cNvSpPr>
          <p:nvPr>
            <p:ph sz="quarter" idx="18"/>
          </p:nvPr>
        </p:nvSpPr>
        <p:spPr>
          <a:xfrm>
            <a:off x="1437004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6" name="内容占位符 44"/>
          <p:cNvSpPr>
            <a:spLocks noGrp="1"/>
          </p:cNvSpPr>
          <p:nvPr>
            <p:ph sz="quarter" idx="19"/>
          </p:nvPr>
        </p:nvSpPr>
        <p:spPr>
          <a:xfrm>
            <a:off x="3784758" y="3082925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7" name="内容占位符 44"/>
          <p:cNvSpPr>
            <a:spLocks noGrp="1"/>
          </p:cNvSpPr>
          <p:nvPr>
            <p:ph sz="quarter" idx="20"/>
          </p:nvPr>
        </p:nvSpPr>
        <p:spPr>
          <a:xfrm>
            <a:off x="6132512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8" name="内容占位符 44"/>
          <p:cNvSpPr>
            <a:spLocks noGrp="1"/>
          </p:cNvSpPr>
          <p:nvPr>
            <p:ph sz="quarter" idx="21"/>
          </p:nvPr>
        </p:nvSpPr>
        <p:spPr>
          <a:xfrm>
            <a:off x="8480266" y="3090122"/>
            <a:ext cx="2174875" cy="256381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8" name="日期占位符 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" name="页脚占位符 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19446-F00A-461D-9ED4-CAAD1C5557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73127"/>
            <a:ext cx="10515600" cy="1911747"/>
          </a:xfrm>
        </p:spPr>
        <p:txBody>
          <a:bodyPr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字与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六边形 4"/>
          <p:cNvSpPr/>
          <p:nvPr>
            <p:custDataLst>
              <p:tags r:id="rId2"/>
            </p:custDataLst>
          </p:nvPr>
        </p:nvSpPr>
        <p:spPr>
          <a:xfrm>
            <a:off x="265113" y="506413"/>
            <a:ext cx="696912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3357" y="506730"/>
            <a:ext cx="6096000" cy="60134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1820332"/>
            <a:ext cx="6170400" cy="40404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1820332"/>
            <a:ext cx="4165200" cy="404865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5" y="365126"/>
            <a:ext cx="1529316" cy="5811839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8879959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六边形 7"/>
          <p:cNvSpPr/>
          <p:nvPr/>
        </p:nvSpPr>
        <p:spPr>
          <a:xfrm>
            <a:off x="119063" y="620713"/>
            <a:ext cx="698500" cy="601662"/>
          </a:xfrm>
          <a:prstGeom prst="hexagon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D90C1-0531-421B-B7D8-1295C2DAEB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778625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sz="3200" noProof="1"/>
          </a:p>
        </p:txBody>
      </p:sp>
      <p:sp>
        <p:nvSpPr>
          <p:cNvPr id="1027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buFontTx/>
              <a:buNone/>
              <a:defRPr sz="1200" noProof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buFontTx/>
              <a:buNone/>
              <a:defRPr sz="1200" noProof="1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buFontTx/>
              <a:buNone/>
              <a:defRPr sz="1200" noProof="1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buFontTx/>
              <a:buNone/>
              <a:defRPr/>
            </a:pPr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ea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8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Segment16C" panose="020B0603050302020204" charset="0"/>
                <a:cs typeface="Segment16C" panose="020B0603050302020204" charset="0"/>
              </a:rPr>
              <a:t>Listen to Learn</a:t>
            </a:r>
            <a:endParaRPr lang="en-US" altLang="zh-CN">
              <a:latin typeface="Segment16C" panose="020B0603050302020204" charset="0"/>
              <a:cs typeface="Segment16C" panose="020B060305030202020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/>
          </a:bodyPr>
          <a:lstStyle/>
          <a:p>
            <a:r>
              <a:rPr lang="en-US" altLang="zh-CN">
                <a:latin typeface="Comfortaa" charset="0"/>
                <a:cs typeface="Comfortaa" charset="0"/>
              </a:rPr>
              <a:t>The Power of Paying Attention in Class</a:t>
            </a:r>
            <a:endParaRPr lang="en-US" altLang="zh-CN">
              <a:latin typeface="Comfortaa" charset="0"/>
              <a:cs typeface="Comfortaa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0193020" y="4859020"/>
            <a:ext cx="1998980" cy="1998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A Simple Question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800">
                <a:latin typeface="Noto Sans" panose="020B0502040504020204" charset="0"/>
                <a:cs typeface="Noto Sans" panose="020B0502040504020204" charset="0"/>
              </a:rPr>
              <a:t>Same classroom</a:t>
            </a:r>
            <a:endParaRPr lang="en-US" altLang="zh-CN" sz="2800">
              <a:latin typeface="Noto Sans" panose="020B0502040504020204" charset="0"/>
              <a:cs typeface="Noto Sans" panose="020B0502040504020204" charset="0"/>
            </a:endParaRPr>
          </a:p>
          <a:p>
            <a:r>
              <a:rPr lang="en-US" altLang="zh-CN" sz="2800">
                <a:latin typeface="Noto Sans" panose="020B0502040504020204" charset="0"/>
                <a:cs typeface="Noto Sans" panose="020B0502040504020204" charset="0"/>
              </a:rPr>
              <a:t>Same teacher</a:t>
            </a:r>
            <a:endParaRPr lang="en-US" altLang="zh-CN" sz="2800">
              <a:latin typeface="Noto Sans" panose="020B0502040504020204" charset="0"/>
              <a:cs typeface="Noto Sans" panose="020B0502040504020204" charset="0"/>
            </a:endParaRPr>
          </a:p>
          <a:p>
            <a:r>
              <a:rPr lang="en-US" altLang="zh-CN" sz="2800">
                <a:latin typeface="Noto Sans" panose="020B0502040504020204" charset="0"/>
                <a:cs typeface="Noto Sans" panose="020B0502040504020204" charset="0"/>
              </a:rPr>
              <a:t>Same 45 minutes</a:t>
            </a:r>
            <a:endParaRPr lang="en-US" altLang="zh-CN" sz="2800">
              <a:latin typeface="Noto Sans" panose="020B0502040504020204" charset="0"/>
              <a:cs typeface="Noto Sans" panose="020B0502040504020204" charset="0"/>
            </a:endParaRPr>
          </a:p>
          <a:p>
            <a:r>
              <a:rPr lang="en-US" altLang="zh-CN" sz="2800">
                <a:latin typeface="Noto Sans" panose="020B0502040504020204" charset="0"/>
                <a:cs typeface="Noto Sans" panose="020B0502040504020204" charset="0"/>
              </a:rPr>
              <a:t>Different results — Why?</a:t>
            </a:r>
            <a:endParaRPr lang="en-US" altLang="zh-CN" sz="2800">
              <a:latin typeface="Noto Sans" panose="020B0502040504020204" charset="0"/>
              <a:cs typeface="Noto Sans" panose="020B0502040504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latin typeface="Noto Sans" panose="020B0502040504020204" charset="0"/>
                <a:cs typeface="Noto Sans" panose="020B0502040504020204" charset="0"/>
              </a:rPr>
              <a:t>Today’s Message</a:t>
            </a:r>
            <a:endParaRPr lang="en-US" altLang="zh-CN">
              <a:latin typeface="Noto Sans" panose="020B0502040504020204" charset="0"/>
              <a:cs typeface="Noto Sans" panose="020B05020405040202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000"/>
              <a:t>Listening is not passive.</a:t>
            </a:r>
            <a:endParaRPr lang="en-US" altLang="zh-CN" sz="2000"/>
          </a:p>
          <a:p>
            <a:r>
              <a:rPr lang="en-US" altLang="zh-CN" sz="2000"/>
              <a:t>It is an active choice.</a:t>
            </a:r>
            <a:endParaRPr lang="en-US" altLang="zh-CN" sz="2000"/>
          </a:p>
          <a:p>
            <a:r>
              <a:rPr lang="en-US" altLang="zh-CN" sz="2000"/>
              <a:t>Choose to learn, respect, and grow.</a:t>
            </a:r>
            <a:endParaRPr lang="en-US" alt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Reason 1 — Learn More Efficiently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/>
              <a:t>Teachers explain difficult ideas</a:t>
            </a:r>
            <a:endParaRPr lang="en-US" altLang="zh-CN"/>
          </a:p>
          <a:p>
            <a:r>
              <a:rPr lang="en-US" altLang="zh-CN"/>
              <a:t>They connect knowledge</a:t>
            </a:r>
            <a:endParaRPr lang="en-US" altLang="zh-CN"/>
          </a:p>
          <a:p>
            <a:r>
              <a:rPr lang="en-US" altLang="zh-CN"/>
              <a:t>They highlight key points</a:t>
            </a:r>
            <a:endParaRPr lang="en-US" altLang="zh-CN"/>
          </a:p>
          <a:p>
            <a:r>
              <a:rPr lang="en-US" altLang="zh-CN"/>
              <a:t>Understand more in class → struggle less after class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Reason 2 — Show Respect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000"/>
              <a:t>Value the teacher’s effort</a:t>
            </a:r>
            <a:endParaRPr lang="en-US" altLang="zh-CN" sz="2000"/>
          </a:p>
          <a:p>
            <a:r>
              <a:rPr lang="en-US" altLang="zh-CN" sz="2000"/>
              <a:t>Respect classmates’ right to learn</a:t>
            </a:r>
            <a:endParaRPr lang="en-US" altLang="zh-CN" sz="2000"/>
          </a:p>
          <a:p>
            <a:r>
              <a:rPr lang="en-US" altLang="zh-CN" sz="2000"/>
              <a:t>A listening classroom grows together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Reason 3 — Build a Lifelong Skill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800"/>
              <a:t>Meetings</a:t>
            </a:r>
            <a:endParaRPr lang="en-US" altLang="zh-CN" sz="2800"/>
          </a:p>
          <a:p>
            <a:r>
              <a:rPr lang="en-US" altLang="zh-CN" sz="2800"/>
              <a:t>Conversations</a:t>
            </a:r>
            <a:endParaRPr lang="en-US" altLang="zh-CN" sz="2800"/>
          </a:p>
          <a:p>
            <a:r>
              <a:rPr lang="en-US" altLang="zh-CN" sz="2800"/>
              <a:t>Teamwork</a:t>
            </a:r>
            <a:endParaRPr lang="en-US" altLang="zh-CN" sz="2800"/>
          </a:p>
          <a:p>
            <a:r>
              <a:rPr lang="en-US" altLang="zh-CN" sz="2800"/>
              <a:t>Life</a:t>
            </a:r>
            <a:endParaRPr lang="en-US" altLang="zh-CN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The Challenge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000"/>
              <a:t>Boring lessons (not English)</a:t>
            </a:r>
            <a:endParaRPr lang="en-US" altLang="zh-CN" sz="2000"/>
          </a:p>
          <a:p>
            <a:r>
              <a:rPr lang="en-US" altLang="zh-CN" sz="2000"/>
              <a:t>Tiredness</a:t>
            </a:r>
            <a:endParaRPr lang="en-US" altLang="zh-CN" sz="2000"/>
          </a:p>
          <a:p>
            <a:r>
              <a:rPr lang="en-US" altLang="zh-CN" sz="2000"/>
              <a:t>Phones and friends</a:t>
            </a:r>
            <a:endParaRPr lang="en-US" altLang="zh-CN" sz="2000"/>
          </a:p>
          <a:p>
            <a:r>
              <a:rPr lang="en-US" altLang="zh-CN" sz="2000"/>
              <a:t>Distracting thoughts</a:t>
            </a:r>
            <a:endParaRPr lang="en-US" altLang="zh-CN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How to Listen Better (1)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2000"/>
              <a:t>Prepare your mind and materials</a:t>
            </a:r>
            <a:endParaRPr lang="en-US" altLang="zh-CN" sz="2000"/>
          </a:p>
          <a:p>
            <a:r>
              <a:rPr lang="en-US" altLang="zh-CN" sz="2000"/>
              <a:t>Sit where you can focus</a:t>
            </a:r>
            <a:endParaRPr lang="en-US" altLang="zh-CN" sz="2000"/>
          </a:p>
          <a:p>
            <a:r>
              <a:rPr lang="en-US" altLang="zh-CN" sz="2000"/>
              <a:t>Take key notes — not everything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How to Listen Better (2)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1800"/>
              <a:t>Keep your eyes on the teacher</a:t>
            </a:r>
            <a:endParaRPr lang="en-US" altLang="zh-CN" sz="1800"/>
          </a:p>
          <a:p>
            <a:r>
              <a:rPr lang="en-US" altLang="zh-CN" sz="1800"/>
              <a:t>Follow the flow of the lesson</a:t>
            </a:r>
            <a:endParaRPr lang="en-US" altLang="zh-CN" sz="1800"/>
          </a:p>
          <a:p>
            <a:r>
              <a:rPr lang="en-US" altLang="zh-CN" sz="1800"/>
              <a:t>Ask or write down questions</a:t>
            </a:r>
            <a:endParaRPr lang="en-US" altLang="zh-CN" sz="1800"/>
          </a:p>
          <a:p>
            <a:r>
              <a:rPr lang="en-US" altLang="zh-CN" sz="1800"/>
              <a:t>Remember: every class has value</a:t>
            </a:r>
            <a:endParaRPr lang="en-US" altLang="zh-CN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Make a Commitment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zh-CN" sz="1800"/>
              <a:t>Listen with your ears</a:t>
            </a:r>
            <a:endParaRPr lang="en-US" altLang="zh-CN" sz="1800"/>
          </a:p>
          <a:p>
            <a:r>
              <a:rPr lang="en-US" altLang="zh-CN" sz="1800"/>
              <a:t>Listen with your eyes</a:t>
            </a:r>
            <a:endParaRPr lang="en-US" altLang="zh-CN" sz="1800"/>
          </a:p>
          <a:p>
            <a:r>
              <a:rPr lang="en-US" altLang="zh-CN" sz="1800"/>
              <a:t>Listen with your mind</a:t>
            </a:r>
            <a:endParaRPr lang="en-US" altLang="zh-CN" sz="1800"/>
          </a:p>
          <a:p>
            <a:r>
              <a:rPr lang="en-US" altLang="zh-CN" sz="1800"/>
              <a:t>Not just hear more — become more</a:t>
            </a:r>
            <a:endParaRPr lang="en-US" altLang="zh-CN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Thank You!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Eric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r_i"/>
  <p:tag name="KSO_WM_UNIT_ID" val="custom2_11*r_i*1_1"/>
  <p:tag name="KSO_WM_TEMPLATE_CATEGORY" val="custom"/>
  <p:tag name="KSO_WM_TEMPLATE_INDEX" val="2"/>
  <p:tag name="KSO_WM_UNIT_INDEX" val="1_1"/>
  <p:tag name="KSO_WM_UNIT_HIGHLIGHT" val="0"/>
  <p:tag name="KSO_WM_UNIT_COMPATIBLE" val="0"/>
  <p:tag name="KSO_WM_DIAGRAM_GROUP_CODE" val="r1-1"/>
  <p:tag name="KSO_WM_UNIT_LAYERLEVEL" val="1_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custom2_10*m_h_i*1_1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1_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ID" val="custom2_10*m_h_i*1_2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2_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ID" val="custom2_10*m_h_i*1_3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3_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ID" val="custom2_10*m_h_i*1_4_1"/>
  <p:tag name="KSO_WM_TEMPLATE_CATEGORY" val="custom"/>
  <p:tag name="KSO_WM_TEMPLATE_INDEX" val="2"/>
  <p:tag name="KSO_WM_UNIT_LAYERLEVEL" val="1_1_1"/>
  <p:tag name="KSO_WM_TAG_VERSION" val="1.0"/>
  <p:tag name="KSO_WM_BEAUTIFY_FLAG" val="#wm#"/>
  <p:tag name="KSO_WM_DIAGRAM_GROUP_CODE" val="m1-4"/>
  <p:tag name="KSO_WM_UNIT_TYPE" val="m_h_i"/>
  <p:tag name="KSO_WM_UNIT_INDEX" val="1_4_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DIAGRAM_GROUP_CODE" val="r1-1"/>
  <p:tag name="KSO_WM_UNIT_ID" val="custom2_11*i*3"/>
  <p:tag name="KSO_WM_TEMPLATE_CATEGORY" val="custom"/>
  <p:tag name="KSO_WM_TEMPLATE_INDEX" val="2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1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2.xml><?xml version="1.0" encoding="utf-8"?>
<p:tagLst xmlns:p="http://schemas.openxmlformats.org/presentationml/2006/main">
  <p:tag name="KSO_WM_TAG_VERSION" val="1.0"/>
  <p:tag name="KSO_WM_TEMPLATE_CATEGORY" val="custom"/>
  <p:tag name="KSO_WM_TEMPLATE_INDEX" val="2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1944_1"/>
  <p:tag name="KSO_WM_TEMPLATE_CATEGORY" val="custom"/>
  <p:tag name="KSO_WM_TEMPLATE_INDEX" val="2"/>
  <p:tag name="KSO_WM_TEMPLATE_SUBCATEGORY" val="combine"/>
  <p:tag name="KSO_WM_TEMPLATE_THUMBS_INDEX" val="1、4、5、6、12、13、17、22、28、29、"/>
</p:tagLst>
</file>

<file path=ppt/theme/theme1.xml><?xml version="1.0" encoding="utf-8"?>
<a:theme xmlns:a="http://schemas.openxmlformats.org/drawingml/2006/main" name="black and white">
  <a:themeElements>
    <a:clrScheme name="112701">
      <a:dk1>
        <a:sysClr val="windowText" lastClr="000000"/>
      </a:dk1>
      <a:lt1>
        <a:sysClr val="window" lastClr="FFFFFF"/>
      </a:lt1>
      <a:dk2>
        <a:srgbClr val="262626"/>
      </a:dk2>
      <a:lt2>
        <a:srgbClr val="EEECE1"/>
      </a:lt2>
      <a:accent1>
        <a:srgbClr val="FFFFFF"/>
      </a:accent1>
      <a:accent2>
        <a:srgbClr val="1B1E1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WPS 演示</Application>
  <PresentationFormat>宽屏</PresentationFormat>
  <Paragraphs>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9" baseType="lpstr">
      <vt:lpstr>Arial</vt:lpstr>
      <vt:lpstr>宋体</vt:lpstr>
      <vt:lpstr>Wingdings</vt:lpstr>
      <vt:lpstr>Liberation Sans</vt:lpstr>
      <vt:lpstr>Calibri Light</vt:lpstr>
      <vt:lpstr>Noto Serif CJK SC</vt:lpstr>
      <vt:lpstr>微软雅黑</vt:lpstr>
      <vt:lpstr>宋体</vt:lpstr>
      <vt:lpstr>Arial Unicode MS</vt:lpstr>
      <vt:lpstr>Calibri</vt:lpstr>
      <vt:lpstr>Adwaita Mono</vt:lpstr>
      <vt:lpstr>Cantarell Extra Bold</vt:lpstr>
      <vt:lpstr>Cantarell</vt:lpstr>
      <vt:lpstr>STIX</vt:lpstr>
      <vt:lpstr>URW Bookman</vt:lpstr>
      <vt:lpstr>Caladea</vt:lpstr>
      <vt:lpstr>RIT Meera New</vt:lpstr>
      <vt:lpstr>RIT Rachana</vt:lpstr>
      <vt:lpstr>PakType Naskh Basic</vt:lpstr>
      <vt:lpstr>URW Gothic</vt:lpstr>
      <vt:lpstr>Z003</vt:lpstr>
      <vt:lpstr>Vazirmatn</vt:lpstr>
      <vt:lpstr>Segment16C</vt:lpstr>
      <vt:lpstr>OpenSymbol</vt:lpstr>
      <vt:lpstr>DejaVu Sans</vt:lpstr>
      <vt:lpstr>方正书宋_GBK</vt:lpstr>
      <vt:lpstr>黑体</vt:lpstr>
      <vt:lpstr>黑体</vt:lpstr>
      <vt:lpstr>汉仪中圆B5</vt:lpstr>
      <vt:lpstr>Comfortaa</vt:lpstr>
      <vt:lpstr>Adwaita Sans</vt:lpstr>
      <vt:lpstr>Noto Sans Armenian</vt:lpstr>
      <vt:lpstr>Noto Sans Cherokee</vt:lpstr>
      <vt:lpstr>Noto Sans Condensed Black</vt:lpstr>
      <vt:lpstr>Noto Sans</vt:lpstr>
      <vt:lpstr>Noto Sans Arabic</vt:lpstr>
      <vt:lpstr>quote-cjk-patch</vt:lpstr>
      <vt:lpstr>black and 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YUE</cp:lastModifiedBy>
  <cp:revision>7</cp:revision>
  <dcterms:created xsi:type="dcterms:W3CDTF">2026-10-30T14:40:15Z</dcterms:created>
  <dcterms:modified xsi:type="dcterms:W3CDTF">2026-10-30T14:40:15Z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2052-12.1.2.29183</vt:lpwstr>
  </property>
  <property fmtid="{D5CDD505-2E9C-101B-9397-08002B2CF9AE}" pid="3" name="ICV">
    <vt:lpwstr>A2BC3C6FF0EDB7A56E9DE46A5B76A0C5_41</vt:lpwstr>
  </property>
</Properties>
</file>